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702902" y="866158"/>
            <a:ext cx="6716757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702902" y="1673843"/>
            <a:ext cx="9676298" cy="437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702902" y="866158"/>
            <a:ext cx="6716757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702902" y="1673843"/>
            <a:ext cx="9676298" cy="437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6716" y="1719042"/>
            <a:ext cx="2518525" cy="452085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2 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3179" y="2425127"/>
            <a:ext cx="12185598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K-Lingo: Korean Language App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151221" y="3405540"/>
            <a:ext cx="7889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and effective language learning platform</a:t>
            </a:r>
            <a:endParaRPr lang="en-US" sz="2000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-6249" r="-6249" t="0" b="0"/>
          <a:stretch/>
        </p:blipFill>
        <p:spPr>
          <a:xfrm>
            <a:off x="2286000" y="4015140"/>
            <a:ext cx="7620000" cy="112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72699" y="4280429"/>
            <a:ext cx="1246558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EST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58897" y="4818900"/>
            <a:ext cx="3674163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Temur • Hasanboy • Behruz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36411" cy="609600"/>
          </a:xfrm>
          <a:prstGeom prst="roundRect">
            <a:avLst>
              <a:gd name="adj" fmla="val 20833"/>
            </a:avLst>
          </a:prstGeom>
          <a:solidFill>
            <a:srgbClr val="0F182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652411" y="866158"/>
            <a:ext cx="88698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Background &amp; 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885950"/>
            <a:ext cx="5118100" cy="2758017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889" y="2195689"/>
            <a:ext cx="4633581" cy="36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8673" y="2734160"/>
            <a:ext cx="4576177" cy="162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demand for the Korean language.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Shortage of quality Uzbek-language resources.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an effective interactive method.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54750" y="1885950"/>
            <a:ext cx="5118100" cy="2758017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4489" y="2195689"/>
            <a:ext cx="4633581" cy="36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4273" y="2734160"/>
            <a:ext cx="4576177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Gamified learning process.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learning of the Hangul alphabet.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vocabulary memorization system.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PLAN • CONTINUED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8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Target Audience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2129720"/>
            <a:ext cx="5118100" cy="2438003"/>
          </a:xfrm>
          <a:prstGeom prst="roundRect">
            <a:avLst>
              <a:gd name="adj" fmla="val 5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889" y="2439459"/>
            <a:ext cx="4633581" cy="36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8673" y="2977930"/>
            <a:ext cx="4576177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 grammar modules.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and visual dictionaries.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 (level) tests.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tracking dashboard.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54750" y="2129720"/>
            <a:ext cx="5118100" cy="2438003"/>
          </a:xfrm>
          <a:prstGeom prst="roundRect">
            <a:avLst>
              <a:gd name="adj" fmla="val 5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4489" y="2439459"/>
            <a:ext cx="4633581" cy="36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4273" y="2977930"/>
            <a:ext cx="4576177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EPS-TOPIK exam candidates.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K-pop and culture fans.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language students.</a:t>
            </a:r>
            <a:endParaRPr lang="en-US" sz="1800" dirty="0"/>
          </a:p>
          <a:p>
            <a:pPr algn="l" marL="204216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language learners.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86902" cy="609600"/>
          </a:xfrm>
          <a:prstGeom prst="roundRect">
            <a:avLst>
              <a:gd name="adj" fmla="val 20833"/>
            </a:avLst>
          </a:prstGeom>
          <a:solidFill>
            <a:srgbClr val="0F182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2902" y="866158"/>
            <a:ext cx="8060108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Roles &amp; Responsibilities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885950"/>
            <a:ext cx="3340100" cy="2371990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69550" y="2195689"/>
            <a:ext cx="1239255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Temur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3522" y="2718902"/>
            <a:ext cx="2871311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MANAGER &amp; BPM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88080" y="3094788"/>
            <a:ext cx="2802241" cy="59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Coordinating the project and modeling processes.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25950" y="1885950"/>
            <a:ext cx="3340100" cy="2371990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1491" y="2195689"/>
            <a:ext cx="1948974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Hasanboy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195994" y="2718902"/>
            <a:ext cx="1800013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 &amp; WBS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4880" y="3094788"/>
            <a:ext cx="2802241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system requirements and distributing tasks.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32750" y="1885950"/>
            <a:ext cx="3340100" cy="2371990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2824" y="2195689"/>
            <a:ext cx="1379908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Behruz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94185" y="2718902"/>
            <a:ext cx="1617186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 &amp; UI/UX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1680" y="3094788"/>
            <a:ext cx="2802241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deadlines and creating the interface design.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90871" cy="609600"/>
          </a:xfrm>
          <a:prstGeom prst="roundRect">
            <a:avLst>
              <a:gd name="adj" fmla="val 20833"/>
            </a:avLst>
          </a:prstGeom>
          <a:solidFill>
            <a:srgbClr val="0F182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6871" y="866158"/>
            <a:ext cx="4349750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79600"/>
            <a:ext cx="4944618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interactions between the user and the system.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9150" y="2729176"/>
            <a:ext cx="4787900" cy="1284949"/>
          </a:xfrm>
          <a:prstGeom prst="roundRect">
            <a:avLst>
              <a:gd name="adj" fmla="val 113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8889" y="3038915"/>
            <a:ext cx="42934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8889" y="3419915"/>
            <a:ext cx="4293475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up, view lessons, take tests.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9150" y="4230027"/>
            <a:ext cx="4787900" cy="1284949"/>
          </a:xfrm>
          <a:prstGeom prst="roundRect">
            <a:avLst>
              <a:gd name="adj" fmla="val 113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8889" y="4539766"/>
            <a:ext cx="42934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8889" y="4920766"/>
            <a:ext cx="4293475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content, analyze results.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2500" y="1892300"/>
            <a:ext cx="5334000" cy="3616325"/>
          </a:xfrm>
          <a:prstGeom prst="roundRect">
            <a:avLst>
              <a:gd name="adj" fmla="val 5268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99200" y="2159000"/>
            <a:ext cx="494461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K-LINGO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9200" y="3461984"/>
            <a:ext cx="1058439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44758" y="2620609"/>
            <a:ext cx="2681684" cy="5532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180382" tIns="53382" rIns="115616" bIns="2798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lessons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44758" y="3345349"/>
            <a:ext cx="2681684" cy="5532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Memorize vocabulary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44758" y="4070086"/>
            <a:ext cx="2681684" cy="55328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 wrap="square" lIns="180382" tIns="53382" rIns="115616" bIns="2798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tests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98676" cy="609600"/>
          </a:xfrm>
          <a:prstGeom prst="roundRect">
            <a:avLst>
              <a:gd name="adj" fmla="val 20833"/>
            </a:avLst>
          </a:prstGeom>
          <a:solidFill>
            <a:srgbClr val="0F182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14676" y="866158"/>
            <a:ext cx="7231010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Processes (BPM)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95450" y="18986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arcTo hR="361950" wR="361950" stAng="16200000" swAng="5400000"/>
                <a:lnTo>
                  <a:pt x="723900" y="361950"/>
                </a:lnTo>
                <a:arcTo hR="361950" wR="361950" stAng="0" swAng="5400000"/>
                <a:lnTo>
                  <a:pt x="361950" y="723900"/>
                </a:lnTo>
                <a:arcTo hR="361950" wR="361950" stAng="5400000" swAng="5400000"/>
                <a:lnTo>
                  <a:pt x="0" y="361950"/>
                </a:lnTo>
                <a:arcTo hR="361950" wR="361950" stAng="10800000" swAng="5400000"/>
                <a:close/>
              </a:path>
            </a:pathLst>
          </a:cu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 wrap="square" lIns="0" tIns="17639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98075" y="2768600"/>
            <a:ext cx="11186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92534" y="3200400"/>
            <a:ext cx="17296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profile.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7850" y="18986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arcTo hR="361950" wR="361950" stAng="16200000" swAng="5400000"/>
                <a:lnTo>
                  <a:pt x="723900" y="361950"/>
                </a:lnTo>
                <a:arcTo hR="361950" wR="361950" stAng="0" swAng="5400000"/>
                <a:lnTo>
                  <a:pt x="361950" y="723900"/>
                </a:lnTo>
                <a:arcTo hR="361950" wR="361950" stAng="5400000" swAng="5400000"/>
                <a:lnTo>
                  <a:pt x="0" y="361950"/>
                </a:lnTo>
                <a:arcTo hR="361950" wR="361950" stAng="10800000" swAng="5400000"/>
                <a:close/>
              </a:path>
            </a:pathLst>
          </a:cu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 wrap="square" lIns="0" tIns="17639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32462" y="2768600"/>
            <a:ext cx="143467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test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58036" y="3200400"/>
            <a:ext cx="19835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assessment.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0250" y="18986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arcTo hR="361950" wR="361950" stAng="16200000" swAng="5400000"/>
                <a:lnTo>
                  <a:pt x="723900" y="361950"/>
                </a:lnTo>
                <a:arcTo hR="361950" wR="361950" stAng="0" swAng="5400000"/>
                <a:lnTo>
                  <a:pt x="361950" y="723900"/>
                </a:lnTo>
                <a:arcTo hR="361950" wR="361950" stAng="5400000" swAng="5400000"/>
                <a:lnTo>
                  <a:pt x="0" y="361950"/>
                </a:lnTo>
                <a:arcTo hR="361950" wR="361950" stAng="10800000" swAng="5400000"/>
                <a:close/>
              </a:path>
            </a:pathLst>
          </a:custGeom>
          <a:solidFill>
            <a:srgbClr val="FFFFFF"/>
          </a:solidFill>
          <a:ln w="38100">
            <a:solidFill>
              <a:srgbClr val="3B82F6"/>
            </a:solidFill>
            <a:prstDash val="solid"/>
          </a:ln>
        </p:spPr>
        <p:txBody>
          <a:bodyPr wrap="square" lIns="0" tIns="17639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14497" y="2768600"/>
            <a:ext cx="225536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module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00284" y="3200400"/>
            <a:ext cx="18838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materials.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72650" y="1898650"/>
            <a:ext cx="723900" cy="723900"/>
          </a:xfrm>
          <a:custGeom>
            <a:avLst/>
            <a:gdLst/>
            <a:ahLst/>
            <a:cxnLst/>
            <a:rect l="l" t="t" r="r" b="b"/>
            <a:pathLst>
              <a:path w="723900" h="723900">
                <a:moveTo>
                  <a:pt x="361950" y="0"/>
                </a:moveTo>
                <a:lnTo>
                  <a:pt x="361950" y="0"/>
                </a:lnTo>
                <a:arcTo hR="361950" wR="361950" stAng="16200000" swAng="5400000"/>
                <a:lnTo>
                  <a:pt x="723900" y="361950"/>
                </a:lnTo>
                <a:arcTo hR="361950" wR="361950" stAng="0" swAng="5400000"/>
                <a:lnTo>
                  <a:pt x="361950" y="723900"/>
                </a:lnTo>
                <a:arcTo hR="361950" wR="361950" stAng="5400000" swAng="5400000"/>
                <a:lnTo>
                  <a:pt x="0" y="361950"/>
                </a:lnTo>
                <a:arcTo hR="361950" wR="361950" stAng="10800000" swAng="5400000"/>
                <a:close/>
              </a:path>
            </a:pathLst>
          </a:custGeom>
          <a:solidFill>
            <a:srgbClr val="3B82F6"/>
          </a:solidFill>
          <a:ln w="38100">
            <a:solidFill>
              <a:srgbClr val="3B82F6"/>
            </a:solidFill>
            <a:prstDash val="solid"/>
          </a:ln>
        </p:spPr>
        <p:txBody>
          <a:bodyPr wrap="square" lIns="0" tIns="17639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56795" y="2768600"/>
            <a:ext cx="13555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test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44387" y="3200400"/>
            <a:ext cx="17803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retention.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84918" cy="609600"/>
          </a:xfrm>
          <a:prstGeom prst="roundRect">
            <a:avLst>
              <a:gd name="adj" fmla="val 20833"/>
            </a:avLst>
          </a:prstGeom>
          <a:solidFill>
            <a:srgbClr val="0F182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0918" y="866158"/>
            <a:ext cx="9179931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Breakdown Structure (WBS)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885950"/>
            <a:ext cx="2476500" cy="1930091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889" y="2195689"/>
            <a:ext cx="1912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Planning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99247" y="2652889"/>
            <a:ext cx="1837464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the project.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charter.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11550" y="1885950"/>
            <a:ext cx="2476500" cy="2214563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21289" y="2195689"/>
            <a:ext cx="1912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Modeling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91647" y="2652889"/>
            <a:ext cx="1837464" cy="11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Use Case.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the BPM map.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3950" y="1885950"/>
            <a:ext cx="2476500" cy="2234891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3689" y="2195689"/>
            <a:ext cx="1912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Design (UI/UX)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4047" y="2957689"/>
            <a:ext cx="1837464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prototype.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6350" y="1885950"/>
            <a:ext cx="2476500" cy="1645620"/>
          </a:xfrm>
          <a:prstGeom prst="roundRect">
            <a:avLst>
              <a:gd name="adj" fmla="val 8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6089" y="2195689"/>
            <a:ext cx="19127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Completion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76447" y="2652889"/>
            <a:ext cx="1837464" cy="59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slides.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defense.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691841" cy="609600"/>
          </a:xfrm>
          <a:prstGeom prst="roundRect">
            <a:avLst>
              <a:gd name="adj" fmla="val 20833"/>
            </a:avLst>
          </a:prstGeom>
          <a:solidFill>
            <a:srgbClr val="0F182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707841" y="866158"/>
            <a:ext cx="6638026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Schedule (Gantt)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4515"/>
            <a:ext cx="196215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21000" y="1879600"/>
            <a:ext cx="8458200" cy="629885"/>
          </a:xfrm>
          <a:prstGeom prst="roundRect">
            <a:avLst>
              <a:gd name="adj" fmla="val 16130"/>
            </a:avLst>
          </a:prstGeom>
          <a:solidFill>
            <a:srgbClr val="EEF2F6"/>
          </a:solidFill>
          <a:ln/>
        </p:spPr>
      </p:sp>
      <p:sp>
        <p:nvSpPr>
          <p:cNvPr id="6" name="Text 4"/>
          <p:cNvSpPr/>
          <p:nvPr/>
        </p:nvSpPr>
        <p:spPr>
          <a:xfrm>
            <a:off x="2959100" y="1917700"/>
            <a:ext cx="2404886" cy="553685"/>
          </a:xfrm>
          <a:prstGeom prst="roundRect">
            <a:avLst>
              <a:gd name="adj" fmla="val 13762"/>
            </a:avLst>
          </a:prstGeom>
          <a:solidFill>
            <a:srgbClr val="DC2626"/>
          </a:solidFill>
          <a:ln/>
        </p:spPr>
        <p:txBody>
          <a:bodyPr wrap="none" lIns="130082" tIns="130082" rIns="67079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Plan (GitHub)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867599"/>
            <a:ext cx="196215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1000" y="2712684"/>
            <a:ext cx="8458200" cy="629885"/>
          </a:xfrm>
          <a:prstGeom prst="roundRect">
            <a:avLst>
              <a:gd name="adj" fmla="val 16130"/>
            </a:avLst>
          </a:prstGeom>
          <a:solidFill>
            <a:srgbClr val="EEF2F6"/>
          </a:solidFill>
          <a:ln/>
        </p:spPr>
      </p:sp>
      <p:sp>
        <p:nvSpPr>
          <p:cNvPr id="9" name="Text 7"/>
          <p:cNvSpPr/>
          <p:nvPr/>
        </p:nvSpPr>
        <p:spPr>
          <a:xfrm>
            <a:off x="5059186" y="2750784"/>
            <a:ext cx="3212571" cy="553685"/>
          </a:xfrm>
          <a:prstGeom prst="roundRect">
            <a:avLst>
              <a:gd name="adj" fmla="val 13762"/>
            </a:avLst>
          </a:prstGeom>
          <a:solidFill>
            <a:srgbClr val="B45309"/>
          </a:solidFill>
          <a:ln/>
        </p:spPr>
        <p:txBody>
          <a:bodyPr wrap="none" lIns="130082" tIns="130082" rIns="42849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(UML/BPM)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700683"/>
            <a:ext cx="196215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19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1000" y="3545771"/>
            <a:ext cx="8458200" cy="629885"/>
          </a:xfrm>
          <a:prstGeom prst="roundRect">
            <a:avLst>
              <a:gd name="adj" fmla="val 16130"/>
            </a:avLst>
          </a:prstGeom>
          <a:solidFill>
            <a:srgbClr val="EE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966957" y="3583871"/>
            <a:ext cx="2404886" cy="553685"/>
          </a:xfrm>
          <a:prstGeom prst="roundRect">
            <a:avLst>
              <a:gd name="adj" fmla="val 13762"/>
            </a:avLst>
          </a:prstGeom>
          <a:solidFill>
            <a:srgbClr val="2563EB"/>
          </a:solidFill>
          <a:ln/>
        </p:spPr>
        <p:txBody>
          <a:bodyPr wrap="none" lIns="130082" tIns="130082" rIns="67079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prep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533770"/>
            <a:ext cx="196215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8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20–23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21000" y="4378852"/>
            <a:ext cx="8458200" cy="629885"/>
          </a:xfrm>
          <a:prstGeom prst="roundRect">
            <a:avLst>
              <a:gd name="adj" fmla="val 16130"/>
            </a:avLst>
          </a:prstGeom>
          <a:solidFill>
            <a:srgbClr val="EE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67043" y="4416952"/>
            <a:ext cx="1274057" cy="553685"/>
          </a:xfrm>
          <a:prstGeom prst="roundRect">
            <a:avLst>
              <a:gd name="adj" fmla="val 13762"/>
            </a:avLst>
          </a:prstGeom>
          <a:solidFill>
            <a:srgbClr val="047857"/>
          </a:solidFill>
          <a:ln/>
        </p:spPr>
        <p:txBody>
          <a:bodyPr wrap="none" lIns="130082" tIns="130082" rIns="79282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2311400"/>
            <a:ext cx="762000" cy="508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0" y="2616200"/>
            <a:ext cx="12191956" cy="807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attention!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3824557" y="3652484"/>
            <a:ext cx="45428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EST • Capstone 2 Project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463045" y="4262084"/>
            <a:ext cx="3265911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Temur • Hasanboy • Behruz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-Lingo: Korean Language App">
  <a:themeElements>
    <a:clrScheme name="K-Lingo: Korean Language App">
      <a:dk1>
        <a:srgbClr val="0F1829"/>
      </a:dk1>
      <a:lt1>
        <a:srgbClr val="F8FAFC"/>
      </a:lt1>
      <a:dk2>
        <a:srgbClr val="49515E"/>
      </a:dk2>
      <a:lt2>
        <a:srgbClr val="E1E3E7"/>
      </a:lt2>
      <a:accent1>
        <a:srgbClr val="2563EB"/>
      </a:accent1>
      <a:accent2>
        <a:srgbClr val="1E3A8A"/>
      </a:accent2>
      <a:accent3>
        <a:srgbClr val="60A5FA"/>
      </a:accent3>
      <a:accent4>
        <a:srgbClr val="1B2A4A"/>
      </a:accent4>
      <a:accent5>
        <a:srgbClr val="3B82F6"/>
      </a:accent5>
      <a:accent6>
        <a:srgbClr val="DC2626"/>
      </a:accent6>
      <a:hlink>
        <a:srgbClr val="0563C1"/>
      </a:hlink>
      <a:folHlink>
        <a:srgbClr val="954F72"/>
      </a:folHlink>
    </a:clrScheme>
    <a:fontScheme name="K-Lingo: Korean Language App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K-Lingo: Korean Language App</dc:title>
  <dc:subject/>
  <dc:creator/>
  <cp:lastModifiedBy/>
  <cp:revision>1</cp:revision>
  <dcterms:created xsi:type="dcterms:W3CDTF">2026-10-05T09:23:22Z</dcterms:created>
  <dcterms:modified xsi:type="dcterms:W3CDTF">2026-10-05T09:23:22Z</dcterms:modified>
</cp:coreProperties>
</file>